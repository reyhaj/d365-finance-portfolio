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1540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2025-12-01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2025-12-01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2025-12-01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2025-12-01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2025-12-01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2025-12-01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2025-12-01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2025-12-01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2025-12-01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2025-12-01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2025-12-01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2025-12-01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E87521"/>
                </a:solidFill>
              </a:defRPr>
            </a:pPr>
            <a:r>
              <a:t>Project 01 – Free Text Invoice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673113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1E1E1E"/>
                </a:solidFill>
              </a:defRPr>
            </a:pPr>
            <a:r>
              <a:rPr dirty="0"/>
              <a:t>Dynamics 365 Finance | Accounts Receivable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C7DDE3-22B9-457B-B43D-AD43BAC3E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52020"/>
            <a:ext cx="6563608" cy="273141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A2368EF-07C5-47B1-BD35-79BD3C25270E}"/>
              </a:ext>
            </a:extLst>
          </p:cNvPr>
          <p:cNvSpPr/>
          <p:nvPr/>
        </p:nvSpPr>
        <p:spPr>
          <a:xfrm>
            <a:off x="858644" y="5397190"/>
            <a:ext cx="6345044" cy="61331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i="0" dirty="0">
                <a:solidFill>
                  <a:schemeClr val="accent6">
                    <a:lumMod val="50000"/>
                  </a:schemeClr>
                </a:solidFill>
                <a:effectLst/>
                <a:latin typeface="Segoe UI" panose="020B0502040204020203" pitchFamily="34" charset="0"/>
              </a:rPr>
              <a:t>Contoso Entertainment System USA</a:t>
            </a:r>
            <a:endParaRPr lang="en-GB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4A082E1-FF21-40C7-98A8-89523E2899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0873074"/>
              </p:ext>
            </p:extLst>
          </p:nvPr>
        </p:nvGraphicFramePr>
        <p:xfrm>
          <a:off x="1014761" y="1396999"/>
          <a:ext cx="7058722" cy="362105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529361">
                  <a:extLst>
                    <a:ext uri="{9D8B030D-6E8A-4147-A177-3AD203B41FA5}">
                      <a16:colId xmlns:a16="http://schemas.microsoft.com/office/drawing/2014/main" val="4018589877"/>
                    </a:ext>
                  </a:extLst>
                </a:gridCol>
                <a:gridCol w="3529361">
                  <a:extLst>
                    <a:ext uri="{9D8B030D-6E8A-4147-A177-3AD203B41FA5}">
                      <a16:colId xmlns:a16="http://schemas.microsoft.com/office/drawing/2014/main" val="2467442233"/>
                    </a:ext>
                  </a:extLst>
                </a:gridCol>
              </a:tblGrid>
              <a:tr h="646552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Detail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8580668"/>
                  </a:ext>
                </a:extLst>
              </a:tr>
              <a:tr h="840697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Microsoft Dynamics 365 Finance (Trial)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539233"/>
                  </a:ext>
                </a:extLst>
              </a:tr>
              <a:tr h="646552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System Administrator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3379529"/>
                  </a:ext>
                </a:extLst>
              </a:tr>
              <a:tr h="646552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Legal 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USMF (Contoso Demo)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1409335"/>
                  </a:ext>
                </a:extLst>
              </a:tr>
              <a:tr h="840697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P01-0001 – Project01 Test Customer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91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603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E87521"/>
                </a:solidFill>
              </a:defRPr>
            </a:pPr>
            <a:r>
              <a:t>Customer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5043753" cy="2677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1E1E1E"/>
                </a:solidFill>
              </a:defRPr>
            </a:pPr>
            <a:r>
              <a:rPr lang="en-GB" dirty="0"/>
              <a:t>• Name: Project01 Test Customer</a:t>
            </a:r>
            <a:endParaRPr lang="fa-IR" dirty="0"/>
          </a:p>
          <a:p>
            <a:pPr>
              <a:defRPr sz="2800">
                <a:solidFill>
                  <a:srgbClr val="1E1E1E"/>
                </a:solidFill>
              </a:defRPr>
            </a:pPr>
            <a:r>
              <a:rPr dirty="0"/>
              <a:t>• Customer: P01-0001</a:t>
            </a:r>
          </a:p>
          <a:p>
            <a:pPr>
              <a:defRPr sz="2800">
                <a:solidFill>
                  <a:srgbClr val="1E1E1E"/>
                </a:solidFill>
              </a:defRPr>
            </a:pPr>
            <a:r>
              <a:rPr dirty="0"/>
              <a:t>• Payment Terms: Net30</a:t>
            </a:r>
          </a:p>
          <a:p>
            <a:pPr>
              <a:defRPr sz="2800">
                <a:solidFill>
                  <a:srgbClr val="1E1E1E"/>
                </a:solidFill>
              </a:defRPr>
            </a:pPr>
            <a:r>
              <a:rPr dirty="0"/>
              <a:t>• Method: CHECK</a:t>
            </a:r>
          </a:p>
          <a:p>
            <a:pPr>
              <a:defRPr sz="2800">
                <a:solidFill>
                  <a:srgbClr val="1E1E1E"/>
                </a:solidFill>
              </a:defRPr>
            </a:pPr>
            <a:r>
              <a:rPr dirty="0"/>
              <a:t>• Tax Group: 5Pct</a:t>
            </a:r>
            <a:endParaRPr lang="en-US" dirty="0"/>
          </a:p>
          <a:p>
            <a:pPr>
              <a:defRPr sz="2800">
                <a:solidFill>
                  <a:srgbClr val="1E1E1E"/>
                </a:solidFill>
              </a:defRPr>
            </a:pPr>
            <a:r>
              <a:rPr lang="en-GB" dirty="0"/>
              <a:t>• Customer Group: 10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50C8C2-E901-4A3C-AE23-7B063004C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506456"/>
            <a:ext cx="3931920" cy="18489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E0C0DC-76D1-46E0-8673-7E4D1B2C39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1563" y="4516126"/>
            <a:ext cx="3729051" cy="18489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E87521"/>
                </a:solidFill>
              </a:defRPr>
            </a:pPr>
            <a:r>
              <a:t>Invoice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1E1E1E"/>
                </a:solidFill>
              </a:defRPr>
            </a:pPr>
            <a:r>
              <a:t>• Consulting Services</a:t>
            </a:r>
          </a:p>
          <a:p>
            <a:pPr>
              <a:defRPr sz="2800">
                <a:solidFill>
                  <a:srgbClr val="1E1E1E"/>
                </a:solidFill>
              </a:defRPr>
            </a:pPr>
            <a:r>
              <a:t>• 250 USD + 12.50 Tax</a:t>
            </a:r>
          </a:p>
          <a:p>
            <a:pPr>
              <a:defRPr sz="2800">
                <a:solidFill>
                  <a:srgbClr val="1E1E1E"/>
                </a:solidFill>
              </a:defRPr>
            </a:pPr>
            <a:r>
              <a:t>• No inventory movement</a:t>
            </a:r>
          </a:p>
          <a:p>
            <a:pPr>
              <a:defRPr sz="2800">
                <a:solidFill>
                  <a:srgbClr val="1E1E1E"/>
                </a:solidFill>
              </a:defRPr>
            </a:pPr>
            <a:r>
              <a:t>• Service-based billing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F3DBCA-B508-47C0-BEE3-83407BA14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601774"/>
            <a:ext cx="5854390" cy="25247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E87521"/>
                </a:solidFill>
              </a:defRPr>
            </a:pPr>
            <a:r>
              <a:t>Voucher Posting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1E1E1E"/>
                </a:solidFill>
              </a:defRPr>
            </a:pPr>
            <a:r>
              <a:t>• DR Accounts Receivable 262.50</a:t>
            </a:r>
          </a:p>
          <a:p>
            <a:pPr>
              <a:defRPr sz="2800">
                <a:solidFill>
                  <a:srgbClr val="1E1E1E"/>
                </a:solidFill>
              </a:defRPr>
            </a:pPr>
            <a:r>
              <a:t>• CR Revenue 250</a:t>
            </a:r>
          </a:p>
          <a:p>
            <a:pPr>
              <a:defRPr sz="2800">
                <a:solidFill>
                  <a:srgbClr val="1E1E1E"/>
                </a:solidFill>
              </a:defRPr>
            </a:pPr>
            <a:r>
              <a:t>• CR Sales Tax Payable 12.50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900D03-46FB-48D4-B392-D7CD0D564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142361"/>
            <a:ext cx="6144322" cy="26017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E87521"/>
                </a:solidFill>
              </a:defRPr>
            </a:pPr>
            <a:r>
              <a:t>Skills Demonstrated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1E1E1E"/>
                </a:solidFill>
              </a:defRPr>
            </a:pPr>
            <a:r>
              <a:t>• AR Cycle</a:t>
            </a:r>
          </a:p>
          <a:p>
            <a:pPr>
              <a:defRPr sz="2800">
                <a:solidFill>
                  <a:srgbClr val="1E1E1E"/>
                </a:solidFill>
              </a:defRPr>
            </a:pPr>
            <a:r>
              <a:t>• Tax Logic</a:t>
            </a:r>
          </a:p>
          <a:p>
            <a:pPr>
              <a:defRPr sz="2800">
                <a:solidFill>
                  <a:srgbClr val="1E1E1E"/>
                </a:solidFill>
              </a:defRPr>
            </a:pPr>
            <a:r>
              <a:t>• Accounting Distribution</a:t>
            </a:r>
          </a:p>
          <a:p>
            <a:pPr>
              <a:defRPr sz="2800">
                <a:solidFill>
                  <a:srgbClr val="1E1E1E"/>
                </a:solidFill>
              </a:defRPr>
            </a:pPr>
            <a:r>
              <a:t>• MB-310 Key Concepts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</Words>
  <Application>Microsoft Office PowerPoint</Application>
  <PresentationFormat>On-screen Show (4:3)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Reyhaneh</cp:lastModifiedBy>
  <cp:revision>7</cp:revision>
  <dcterms:created xsi:type="dcterms:W3CDTF">2013-01-27T09:14:16Z</dcterms:created>
  <dcterms:modified xsi:type="dcterms:W3CDTF">2025-12-01T13:49:46Z</dcterms:modified>
  <cp:category/>
</cp:coreProperties>
</file>